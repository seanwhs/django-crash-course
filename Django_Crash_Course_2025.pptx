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Django philosophy, production adoption, and why it's a preferred framework for engineers.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Discuss why engineers prefer Django for production and security benefits.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MVT flow with a diagram, emphasize separation of concerns.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the importance of modular app design for maintainability.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environment isolation, dependency management, and why venv is mandatory.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Demonstrate request-response lifecycle with live coding.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migrations as version control for DB schema and importance of testing ORM queries interactively.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Discuss admin interface use-cases for internal tools and rapid prototyping.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DRY principle, template organization, and static file best practices.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CSRF attacks and why tokens are mandatory, differences between Form and ModelForm.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CBVs advantages, URL mapping using as_view(), and DRY principle.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Discuss auth best practices and extending user model for production apps.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DRF, why APIs are important, and basic serialization.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deployment best practices, environment separation, and security.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real-world scenarios for messaging, file handling, email, and caching.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Encourage participants to integrate all topics into a final project, follow best practices.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Reinforce course goals and encourage continued self-study and experimentation.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Python Django Crash Course – Engineering Guide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5-Day Hands-On Intensive Training for Engineers</a:t>
            </a:r>
          </a:p>
          <a:p>
            <a:r>
              <a:t>Presented by Sean Wong</a:t>
            </a:r>
          </a:p>
          <a:p>
            <a:r>
              <a:t>Goal: Build Full-Stack Apps with Django and Deploy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Course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400"/>
              </a:spcAft>
              <a:defRPr sz="1800">
                <a:latin typeface="Calibri"/>
              </a:defRPr>
            </a:pPr>
            <a:r>
              <a:t>Django: high-level Python web framework following MVT pattern</a:t>
            </a:r>
          </a:p>
          <a:p>
            <a:pPr>
              <a:spcAft>
                <a:spcPts val="400"/>
              </a:spcAft>
              <a:defRPr sz="1800">
                <a:latin typeface="Calibri"/>
              </a:defRPr>
            </a:pPr>
            <a:r>
              <a:t>Batteries-included: ORM, Admin, Authentication, Templating, Security</a:t>
            </a:r>
          </a:p>
          <a:p>
            <a:pPr>
              <a:spcAft>
                <a:spcPts val="400"/>
              </a:spcAft>
              <a:defRPr sz="1800">
                <a:latin typeface="Calibri"/>
              </a:defRPr>
            </a:pPr>
            <a:r>
              <a:t>Goal: Understand Django architecture, build full-stack apps, deploy, and create APIs</a:t>
            </a:r>
          </a:p>
          <a:p>
            <a:pPr>
              <a:spcAft>
                <a:spcPts val="400"/>
              </a:spcAft>
              <a:defRPr sz="1800">
                <a:latin typeface="Calibri"/>
              </a:defRPr>
            </a:pPr>
            <a:r>
              <a:t>Diagram Placeholder: Client Request → URL Dispatcher → View → Template → HttpResponse</a:t>
            </a:r>
          </a:p>
          <a:p>
            <a:pPr>
              <a:spcAft>
                <a:spcPts val="400"/>
              </a:spcAft>
              <a:defRPr sz="1800">
                <a:latin typeface="Calibri"/>
              </a:defRPr>
            </a:pPr>
            <a:r>
              <a:t>Compare Django vs Flask: Batteries-included vs lightweight, MVT vs MVC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1 – Foundations of Django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400"/>
              </a:spcAft>
              <a:defRPr sz="1800">
                <a:latin typeface="Calibri"/>
              </a:defRPr>
            </a:pPr>
            <a:r>
              <a:t>Introduction:</a:t>
            </a:r>
          </a:p>
          <a:p>
            <a:pPr>
              <a:spcAft>
                <a:spcPts val="400"/>
              </a:spcAft>
              <a:defRPr sz="1800">
                <a:latin typeface="Calibri"/>
              </a:defRPr>
            </a:pPr>
            <a:r>
              <a:t>- Django is a Python web framework following MVT</a:t>
            </a:r>
          </a:p>
          <a:p>
            <a:pPr>
              <a:spcAft>
                <a:spcPts val="400"/>
              </a:spcAft>
              <a:defRPr sz="1800">
                <a:latin typeface="Calibri"/>
              </a:defRPr>
            </a:pPr>
            <a:r>
              <a:t>- Clean, maintainable, and pragmatic code</a:t>
            </a:r>
          </a:p>
          <a:p>
            <a:pPr>
              <a:spcAft>
                <a:spcPts val="400"/>
              </a:spcAft>
              <a:defRPr sz="1800">
                <a:latin typeface="Calibri"/>
              </a:defRPr>
            </a:pPr>
            <a:r>
              <a:t>- Used in production by Instagram, Pinterest, Disqus</a:t>
            </a:r>
          </a:p>
          <a:p>
            <a:pPr>
              <a:spcAft>
                <a:spcPts val="400"/>
              </a:spcAft>
              <a:defRPr sz="1800">
                <a:latin typeface="Calibri"/>
              </a:defRPr>
            </a:pPr>
            <a:r>
              <a:t>Core Features:</a:t>
            </a:r>
          </a:p>
          <a:p>
            <a:pPr>
              <a:spcAft>
                <a:spcPts val="400"/>
              </a:spcAft>
              <a:defRPr sz="1800">
                <a:latin typeface="Calibri"/>
              </a:defRPr>
            </a:pPr>
            <a:r>
              <a:t>- ORM: database abstraction</a:t>
            </a:r>
          </a:p>
          <a:p>
            <a:pPr>
              <a:spcAft>
                <a:spcPts val="400"/>
              </a:spcAft>
              <a:defRPr sz="1800">
                <a:latin typeface="Calibri"/>
              </a:defRPr>
            </a:pPr>
            <a:r>
              <a:t>- Admin interface: auto-generated UI for models</a:t>
            </a:r>
          </a:p>
          <a:p>
            <a:pPr>
              <a:spcAft>
                <a:spcPts val="400"/>
              </a:spcAft>
              <a:defRPr sz="1800">
                <a:latin typeface="Calibri"/>
              </a:defRPr>
            </a:pPr>
            <a:r>
              <a:t>- Middleware: request/response pipeline</a:t>
            </a:r>
          </a:p>
          <a:p>
            <a:pPr>
              <a:spcAft>
                <a:spcPts val="400"/>
              </a:spcAft>
              <a:defRPr sz="1800">
                <a:latin typeface="Calibri"/>
              </a:defRPr>
            </a:pPr>
            <a:r>
              <a:t>- Auth &amp; authorization built-in</a:t>
            </a:r>
          </a:p>
          <a:p>
            <a:pPr>
              <a:spcAft>
                <a:spcPts val="400"/>
              </a:spcAft>
              <a:defRPr sz="1800">
                <a:latin typeface="Calibri"/>
              </a:defRPr>
            </a:pPr>
            <a:r>
              <a:t>- Security: CSRF, XSS, SQL injection prevention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MVT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400"/>
              </a:spcAft>
              <a:defRPr sz="1800">
                <a:latin typeface="Calibri"/>
              </a:defRPr>
            </a:pPr>
            <a:r>
              <a:t>Model = database structure &amp; business logic (models.Model)</a:t>
            </a:r>
          </a:p>
          <a:p>
            <a:pPr>
              <a:spcAft>
                <a:spcPts val="400"/>
              </a:spcAft>
              <a:defRPr sz="1800">
                <a:latin typeface="Calibri"/>
              </a:defRPr>
            </a:pPr>
            <a:r>
              <a:t>View = process requests, return responses (FBV / CBV)</a:t>
            </a:r>
          </a:p>
          <a:p>
            <a:pPr>
              <a:spcAft>
                <a:spcPts val="400"/>
              </a:spcAft>
              <a:defRPr sz="1800">
                <a:latin typeface="Calibri"/>
              </a:defRPr>
            </a:pPr>
            <a:r>
              <a:t>Template = presentation layer with inheritance &amp; static files</a:t>
            </a:r>
          </a:p>
          <a:p>
            <a:pPr>
              <a:spcAft>
                <a:spcPts val="400"/>
              </a:spcAft>
              <a:defRPr sz="1800">
                <a:latin typeface="Calibri"/>
              </a:defRPr>
            </a:pPr>
            <a:r>
              <a:t>Diagram Placeholder: Model → View → Template → HttpResponse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vs App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400"/>
              </a:spcAft>
              <a:defRPr sz="1800">
                <a:latin typeface="Calibri"/>
              </a:defRPr>
            </a:pPr>
            <a:r>
              <a:t>Project: global config and settings, may contain multiple apps</a:t>
            </a:r>
          </a:p>
          <a:p>
            <a:pPr>
              <a:spcAft>
                <a:spcPts val="400"/>
              </a:spcAft>
              <a:defRPr sz="1800">
                <a:latin typeface="Calibri"/>
              </a:defRPr>
            </a:pPr>
            <a:r>
              <a:t>App: modular component for specific functionality (blog, auth, shop)</a:t>
            </a:r>
          </a:p>
          <a:p>
            <a:pPr>
              <a:spcAft>
                <a:spcPts val="400"/>
              </a:spcAft>
              <a:defRPr sz="1800">
                <a:latin typeface="Calibri"/>
              </a:defRPr>
            </a:pPr>
            <a:r>
              <a:t>Engineering Tip: modular apps enhance code separation and reusability</a:t>
            </a:r>
          </a:p>
          <a:p>
            <a:pPr>
              <a:spcAft>
                <a:spcPts val="400"/>
              </a:spcAft>
              <a:defRPr sz="1800">
                <a:latin typeface="Calibri"/>
              </a:defRPr>
            </a:pPr>
            <a:r>
              <a:t>Example: Project=myproject, Apps=blog, accounts, shop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Environment Setup &amp;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400"/>
              </a:spcAft>
              <a:defRPr sz="1800">
                <a:latin typeface="Calibri"/>
              </a:defRPr>
            </a:pPr>
            <a:r>
              <a:t>Python virtual environment creation:</a:t>
            </a:r>
          </a:p>
          <a:p>
            <a:pPr>
              <a:spcAft>
                <a:spcPts val="400"/>
              </a:spcAft>
              <a:defRPr sz="1800">
                <a:latin typeface="Calibri"/>
              </a:defRPr>
            </a:pPr>
            <a:r>
              <a:t>  python -m venv venv</a:t>
            </a:r>
          </a:p>
          <a:p>
            <a:pPr>
              <a:spcAft>
                <a:spcPts val="400"/>
              </a:spcAft>
              <a:defRPr sz="1800">
                <a:latin typeface="Calibri"/>
              </a:defRPr>
            </a:pPr>
            <a:r>
              <a:t>  source venv/bin/activate  # macOS/Linux</a:t>
            </a:r>
          </a:p>
          <a:p>
            <a:pPr>
              <a:spcAft>
                <a:spcPts val="400"/>
              </a:spcAft>
              <a:defRPr sz="1800">
                <a:latin typeface="Calibri"/>
              </a:defRPr>
            </a:pPr>
            <a:r>
              <a:t>  venv\Scripts\activate    # Windows</a:t>
            </a:r>
          </a:p>
          <a:p>
            <a:pPr>
              <a:spcAft>
                <a:spcPts val="400"/>
              </a:spcAft>
              <a:defRPr sz="1800">
                <a:latin typeface="Calibri"/>
              </a:defRPr>
            </a:pPr>
            <a:r>
              <a:t>Install Django:</a:t>
            </a:r>
          </a:p>
          <a:p>
            <a:pPr>
              <a:spcAft>
                <a:spcPts val="400"/>
              </a:spcAft>
              <a:defRPr sz="1800">
                <a:latin typeface="Calibri"/>
              </a:defRPr>
            </a:pPr>
            <a:r>
              <a:t>  pip install django</a:t>
            </a:r>
          </a:p>
          <a:p>
            <a:pPr>
              <a:spcAft>
                <a:spcPts val="400"/>
              </a:spcAft>
              <a:defRPr sz="1800">
                <a:latin typeface="Calibri"/>
              </a:defRPr>
            </a:pPr>
            <a:r>
              <a:t>Create project:</a:t>
            </a:r>
          </a:p>
          <a:p>
            <a:pPr>
              <a:spcAft>
                <a:spcPts val="400"/>
              </a:spcAft>
              <a:defRPr sz="1800">
                <a:latin typeface="Calibri"/>
              </a:defRPr>
            </a:pPr>
            <a:r>
              <a:t>  django-admin startproject myproject</a:t>
            </a:r>
          </a:p>
          <a:p>
            <a:pPr>
              <a:spcAft>
                <a:spcPts val="400"/>
              </a:spcAft>
              <a:defRPr sz="1800">
                <a:latin typeface="Calibri"/>
              </a:defRPr>
            </a:pPr>
            <a:r>
              <a:t>Directory walkthrough: manage.py, settings.py, urls.py, wsgi.py/asgi.py</a:t>
            </a:r>
          </a:p>
          <a:p>
            <a:pPr>
              <a:spcAft>
                <a:spcPts val="400"/>
              </a:spcAft>
              <a:defRPr sz="1800">
                <a:latin typeface="Calibri"/>
              </a:defRPr>
            </a:pPr>
            <a:r>
              <a:t>Tip: Always use virtual environments to avoid package conflicts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First Django App &amp; Request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400"/>
              </a:spcAft>
              <a:defRPr sz="1800">
                <a:latin typeface="Calibri"/>
              </a:defRPr>
            </a:pPr>
            <a:r>
              <a:t>Create an app: python manage.py startapp core</a:t>
            </a:r>
          </a:p>
          <a:p>
            <a:pPr>
              <a:spcAft>
                <a:spcPts val="400"/>
              </a:spcAft>
              <a:defRPr sz="1800">
                <a:latin typeface="Calibri"/>
              </a:defRPr>
            </a:pPr>
            <a:r>
              <a:t>Request Flow: Client → URL Dispatcher → View → Template → Response</a:t>
            </a:r>
          </a:p>
          <a:p>
            <a:pPr>
              <a:spcAft>
                <a:spcPts val="400"/>
              </a:spcAft>
              <a:defRPr sz="1800">
                <a:latin typeface="Calibri"/>
              </a:defRPr>
            </a:pPr>
            <a:r>
              <a:t>URL Example:</a:t>
            </a:r>
          </a:p>
          <a:p>
            <a:pPr>
              <a:spcAft>
                <a:spcPts val="400"/>
              </a:spcAft>
              <a:defRPr sz="1800">
                <a:latin typeface="Calibri"/>
              </a:defRPr>
            </a:pPr>
            <a:r>
              <a:t>  path('', views.home, name='home')</a:t>
            </a:r>
          </a:p>
          <a:p>
            <a:pPr>
              <a:spcAft>
                <a:spcPts val="400"/>
              </a:spcAft>
              <a:defRPr sz="1800">
                <a:latin typeface="Calibri"/>
              </a:defRPr>
            </a:pPr>
            <a:r>
              <a:t>Render Template:</a:t>
            </a:r>
          </a:p>
          <a:p>
            <a:pPr>
              <a:spcAft>
                <a:spcPts val="400"/>
              </a:spcAft>
              <a:defRPr sz="1800">
                <a:latin typeface="Calibri"/>
              </a:defRPr>
            </a:pPr>
            <a:r>
              <a:t>  return render(request, 'home.html', context)</a:t>
            </a:r>
          </a:p>
          <a:p>
            <a:pPr>
              <a:spcAft>
                <a:spcPts val="400"/>
              </a:spcAft>
              <a:defRPr sz="1800">
                <a:latin typeface="Calibri"/>
              </a:defRPr>
            </a:pPr>
            <a:r>
              <a:t>Exercise: Create your first 'core' app and render a 'home.html' page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2 – Models &amp; 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400"/>
              </a:spcAft>
              <a:defRPr sz="1800">
                <a:latin typeface="Calibri"/>
              </a:defRPr>
            </a:pPr>
            <a:r>
              <a:t>Define Models:</a:t>
            </a:r>
          </a:p>
          <a:p>
            <a:pPr>
              <a:spcAft>
                <a:spcPts val="400"/>
              </a:spcAft>
              <a:defRPr sz="1800">
                <a:latin typeface="Calibri"/>
              </a:defRPr>
            </a:pPr>
            <a:r>
              <a:t>class Post(models.Model):</a:t>
            </a:r>
          </a:p>
          <a:p>
            <a:pPr>
              <a:spcAft>
                <a:spcPts val="400"/>
              </a:spcAft>
              <a:defRPr sz="1800">
                <a:latin typeface="Calibri"/>
              </a:defRPr>
            </a:pPr>
            <a:r>
              <a:t>    title = models.CharField(max_length=200)</a:t>
            </a:r>
          </a:p>
          <a:p>
            <a:pPr>
              <a:spcAft>
                <a:spcPts val="400"/>
              </a:spcAft>
              <a:defRPr sz="1800">
                <a:latin typeface="Calibri"/>
              </a:defRPr>
            </a:pPr>
            <a:r>
              <a:t>    body = models.TextField()</a:t>
            </a:r>
          </a:p>
          <a:p>
            <a:pPr>
              <a:spcAft>
                <a:spcPts val="400"/>
              </a:spcAft>
              <a:defRPr sz="1800">
                <a:latin typeface="Calibri"/>
              </a:defRPr>
            </a:pPr>
            <a:r>
              <a:t>    created = models.DateTimeField(auto_now_add=True)</a:t>
            </a:r>
          </a:p>
          <a:p>
            <a:pPr>
              <a:spcAft>
                <a:spcPts val="400"/>
              </a:spcAft>
              <a:defRPr sz="1800">
                <a:latin typeface="Calibri"/>
              </a:defRPr>
            </a:pPr>
            <a:r>
              <a:t>Migrations:</a:t>
            </a:r>
          </a:p>
          <a:p>
            <a:pPr>
              <a:spcAft>
                <a:spcPts val="400"/>
              </a:spcAft>
              <a:defRPr sz="1800">
                <a:latin typeface="Calibri"/>
              </a:defRPr>
            </a:pPr>
            <a:r>
              <a:t>  python manage.py makemigrations</a:t>
            </a:r>
          </a:p>
          <a:p>
            <a:pPr>
              <a:spcAft>
                <a:spcPts val="400"/>
              </a:spcAft>
              <a:defRPr sz="1800">
                <a:latin typeface="Calibri"/>
              </a:defRPr>
            </a:pPr>
            <a:r>
              <a:t>  python manage.py migrate</a:t>
            </a:r>
          </a:p>
          <a:p>
            <a:pPr>
              <a:spcAft>
                <a:spcPts val="400"/>
              </a:spcAft>
              <a:defRPr sz="1800">
                <a:latin typeface="Calibri"/>
              </a:defRPr>
            </a:pPr>
            <a:r>
              <a:t>Django Shell Usage:</a:t>
            </a:r>
          </a:p>
          <a:p>
            <a:pPr>
              <a:spcAft>
                <a:spcPts val="400"/>
              </a:spcAft>
              <a:defRPr sz="1800">
                <a:latin typeface="Calibri"/>
              </a:defRPr>
            </a:pPr>
            <a:r>
              <a:t>  python manage.py shell</a:t>
            </a:r>
          </a:p>
          <a:p>
            <a:pPr>
              <a:spcAft>
                <a:spcPts val="400"/>
              </a:spcAft>
              <a:defRPr sz="1800">
                <a:latin typeface="Calibri"/>
              </a:defRPr>
            </a:pPr>
            <a:r>
              <a:t>  Post.objects.create(title='Test', body='Example')</a:t>
            </a:r>
          </a:p>
          <a:p>
            <a:pPr>
              <a:spcAft>
                <a:spcPts val="400"/>
              </a:spcAft>
              <a:defRPr sz="1800">
                <a:latin typeface="Calibri"/>
              </a:defRPr>
            </a:pPr>
            <a:r>
              <a:t>  Post.objects.all()</a:t>
            </a:r>
          </a:p>
          <a:p>
            <a:pPr>
              <a:spcAft>
                <a:spcPts val="400"/>
              </a:spcAft>
              <a:defRPr sz="1800">
                <a:latin typeface="Calibri"/>
              </a:defRPr>
            </a:pPr>
            <a:r>
              <a:t>Hands-on: Create a 'Comment' model and test shell queries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Admin Interface &amp; Customization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400"/>
              </a:spcAft>
              <a:defRPr sz="1800">
                <a:latin typeface="Calibri"/>
              </a:defRPr>
            </a:pPr>
            <a:r>
              <a:t>Enable Admin:</a:t>
            </a:r>
          </a:p>
          <a:p>
            <a:pPr>
              <a:spcAft>
                <a:spcPts val="400"/>
              </a:spcAft>
              <a:defRPr sz="1800">
                <a:latin typeface="Calibri"/>
              </a:defRPr>
            </a:pPr>
            <a:r>
              <a:t>  python manage.py createsuperuser</a:t>
            </a:r>
          </a:p>
          <a:p>
            <a:pPr>
              <a:spcAft>
                <a:spcPts val="400"/>
              </a:spcAft>
              <a:defRPr sz="1800">
                <a:latin typeface="Calibri"/>
              </a:defRPr>
            </a:pPr>
            <a:r>
              <a:t>Register Models in admin.py:</a:t>
            </a:r>
          </a:p>
          <a:p>
            <a:pPr>
              <a:spcAft>
                <a:spcPts val="400"/>
              </a:spcAft>
              <a:defRPr sz="1800">
                <a:latin typeface="Calibri"/>
              </a:defRPr>
            </a:pPr>
            <a:r>
              <a:t>  from django.contrib import admin</a:t>
            </a:r>
          </a:p>
          <a:p>
            <a:pPr>
              <a:spcAft>
                <a:spcPts val="400"/>
              </a:spcAft>
              <a:defRPr sz="1800">
                <a:latin typeface="Calibri"/>
              </a:defRPr>
            </a:pPr>
            <a:r>
              <a:t>  from .models import Post</a:t>
            </a:r>
          </a:p>
          <a:p>
            <a:pPr>
              <a:spcAft>
                <a:spcPts val="400"/>
              </a:spcAft>
              <a:defRPr sz="1800">
                <a:latin typeface="Calibri"/>
              </a:defRPr>
            </a:pPr>
            <a:r>
              <a:t>  admin.site.register(Post)</a:t>
            </a:r>
          </a:p>
          <a:p>
            <a:pPr>
              <a:spcAft>
                <a:spcPts val="400"/>
              </a:spcAft>
              <a:defRPr sz="1800">
                <a:latin typeface="Calibri"/>
              </a:defRPr>
            </a:pPr>
            <a:r>
              <a:t>Customizations:</a:t>
            </a:r>
          </a:p>
          <a:p>
            <a:pPr>
              <a:spcAft>
                <a:spcPts val="400"/>
              </a:spcAft>
              <a:defRPr sz="1800">
                <a:latin typeface="Calibri"/>
              </a:defRPr>
            </a:pPr>
            <a:r>
              <a:t>- list_display, search_fields, list_filter</a:t>
            </a:r>
          </a:p>
          <a:p>
            <a:pPr>
              <a:spcAft>
                <a:spcPts val="400"/>
              </a:spcAft>
              <a:defRPr sz="1800">
                <a:latin typeface="Calibri"/>
              </a:defRPr>
            </a:pPr>
            <a:r>
              <a:t>Hands-on: Customize admin for your Post model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Templates &amp; Static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400"/>
              </a:spcAft>
              <a:defRPr sz="1800">
                <a:latin typeface="Calibri"/>
              </a:defRPr>
            </a:pPr>
            <a:r>
              <a:t>Template Inheritance: base.html → child templates</a:t>
            </a:r>
          </a:p>
          <a:p>
            <a:pPr>
              <a:spcAft>
                <a:spcPts val="400"/>
              </a:spcAft>
              <a:defRPr sz="1800">
                <a:latin typeface="Calibri"/>
              </a:defRPr>
            </a:pPr>
            <a:r>
              <a:t>Context Variables: {{ post.title }}</a:t>
            </a:r>
          </a:p>
          <a:p>
            <a:pPr>
              <a:spcAft>
                <a:spcPts val="400"/>
              </a:spcAft>
              <a:defRPr sz="1800">
                <a:latin typeface="Calibri"/>
              </a:defRPr>
            </a:pPr>
            <a:r>
              <a:t>Filters &amp; Tags: {{ date|date:'Y-m-d' }}</a:t>
            </a:r>
          </a:p>
          <a:p>
            <a:pPr>
              <a:spcAft>
                <a:spcPts val="400"/>
              </a:spcAft>
              <a:defRPr sz="1800">
                <a:latin typeface="Calibri"/>
              </a:defRPr>
            </a:pPr>
            <a:r>
              <a:t>Static Files: {% load static %} &lt;img src='{% static "img/logo.png" %}'&gt;</a:t>
            </a:r>
          </a:p>
          <a:p>
            <a:pPr>
              <a:spcAft>
                <a:spcPts val="400"/>
              </a:spcAft>
              <a:defRPr sz="1800">
                <a:latin typeface="Calibri"/>
              </a:defRPr>
            </a:pPr>
            <a:r>
              <a:t>Exercise: Build a template with inheritance and static assets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3 – Forms &amp; CSRF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400"/>
              </a:spcAft>
              <a:defRPr sz="1800">
                <a:latin typeface="Calibri"/>
              </a:defRPr>
            </a:pPr>
            <a:r>
              <a:t>Forms: forms.Form vs forms.ModelForm</a:t>
            </a:r>
          </a:p>
          <a:p>
            <a:pPr>
              <a:spcAft>
                <a:spcPts val="400"/>
              </a:spcAft>
              <a:defRPr sz="1800">
                <a:latin typeface="Calibri"/>
              </a:defRPr>
            </a:pPr>
            <a:r>
              <a:t>Example Form:</a:t>
            </a:r>
          </a:p>
          <a:p>
            <a:pPr>
              <a:spcAft>
                <a:spcPts val="400"/>
              </a:spcAft>
              <a:defRPr sz="1800">
                <a:latin typeface="Calibri"/>
              </a:defRPr>
            </a:pPr>
            <a:r>
              <a:t>  class ContactForm(forms.Form):</a:t>
            </a:r>
          </a:p>
          <a:p>
            <a:pPr>
              <a:spcAft>
                <a:spcPts val="400"/>
              </a:spcAft>
              <a:defRPr sz="1800">
                <a:latin typeface="Calibri"/>
              </a:defRPr>
            </a:pPr>
            <a:r>
              <a:t>      name = forms.CharField(max_length=100)</a:t>
            </a:r>
          </a:p>
          <a:p>
            <a:pPr>
              <a:spcAft>
                <a:spcPts val="400"/>
              </a:spcAft>
              <a:defRPr sz="1800">
                <a:latin typeface="Calibri"/>
              </a:defRPr>
            </a:pPr>
            <a:r>
              <a:t>      email = forms.EmailField()</a:t>
            </a:r>
          </a:p>
          <a:p>
            <a:pPr>
              <a:spcAft>
                <a:spcPts val="400"/>
              </a:spcAft>
              <a:defRPr sz="1800">
                <a:latin typeface="Calibri"/>
              </a:defRPr>
            </a:pPr>
            <a:r>
              <a:t>CSRF Protection:</a:t>
            </a:r>
          </a:p>
          <a:p>
            <a:pPr>
              <a:spcAft>
                <a:spcPts val="400"/>
              </a:spcAft>
              <a:defRPr sz="1800">
                <a:latin typeface="Calibri"/>
              </a:defRPr>
            </a:pPr>
            <a:r>
              <a:t>  {% csrf_token %} in all POST forms</a:t>
            </a:r>
          </a:p>
          <a:p>
            <a:pPr>
              <a:spcAft>
                <a:spcPts val="400"/>
              </a:spcAft>
              <a:defRPr sz="1800">
                <a:latin typeface="Calibri"/>
              </a:defRPr>
            </a:pPr>
            <a:r>
              <a:t>Exercise: Create a contact form with validation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Class-Based Views (CBV)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400"/>
              </a:spcAft>
              <a:defRPr sz="1800">
                <a:latin typeface="Calibri"/>
              </a:defRPr>
            </a:pPr>
            <a:r>
              <a:t>FBV: simple procedural view functions</a:t>
            </a:r>
          </a:p>
          <a:p>
            <a:pPr>
              <a:spcAft>
                <a:spcPts val="400"/>
              </a:spcAft>
              <a:defRPr sz="1800">
                <a:latin typeface="Calibri"/>
              </a:defRPr>
            </a:pPr>
            <a:r>
              <a:t>CBV: reusable, DRY, supports generic methods</a:t>
            </a:r>
          </a:p>
          <a:p>
            <a:pPr>
              <a:spcAft>
                <a:spcPts val="400"/>
              </a:spcAft>
              <a:defRPr sz="1800">
                <a:latin typeface="Calibri"/>
              </a:defRPr>
            </a:pPr>
            <a:r>
              <a:t>Generic Views: ListView, DetailView, CreateView, UpdateView, DeleteView</a:t>
            </a:r>
          </a:p>
          <a:p>
            <a:pPr>
              <a:spcAft>
                <a:spcPts val="400"/>
              </a:spcAft>
              <a:defRPr sz="1800">
                <a:latin typeface="Calibri"/>
              </a:defRPr>
            </a:pPr>
            <a:r>
              <a:t>Example CBV:</a:t>
            </a:r>
          </a:p>
          <a:p>
            <a:pPr>
              <a:spcAft>
                <a:spcPts val="400"/>
              </a:spcAft>
              <a:defRPr sz="1800">
                <a:latin typeface="Calibri"/>
              </a:defRPr>
            </a:pPr>
            <a:r>
              <a:t>  class PostListView(ListView):</a:t>
            </a:r>
          </a:p>
          <a:p>
            <a:pPr>
              <a:spcAft>
                <a:spcPts val="400"/>
              </a:spcAft>
              <a:defRPr sz="1800">
                <a:latin typeface="Calibri"/>
              </a:defRPr>
            </a:pPr>
            <a:r>
              <a:t>      model = Post</a:t>
            </a:r>
          </a:p>
          <a:p>
            <a:pPr>
              <a:spcAft>
                <a:spcPts val="400"/>
              </a:spcAft>
              <a:defRPr sz="1800">
                <a:latin typeface="Calibri"/>
              </a:defRPr>
            </a:pPr>
            <a:r>
              <a:t>      template_name = 'post_list.html'</a:t>
            </a:r>
          </a:p>
          <a:p>
            <a:pPr>
              <a:spcAft>
                <a:spcPts val="400"/>
              </a:spcAft>
              <a:defRPr sz="1800">
                <a:latin typeface="Calibri"/>
              </a:defRPr>
            </a:pPr>
            <a:r>
              <a:t>Exercise: Implement CBV for Post CRUD operations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Authentication &amp; Access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400"/>
              </a:spcAft>
              <a:defRPr sz="1800">
                <a:latin typeface="Calibri"/>
              </a:defRPr>
            </a:pPr>
            <a:r>
              <a:t>Workflows: Login, Logout, Signup</a:t>
            </a:r>
          </a:p>
          <a:p>
            <a:pPr>
              <a:spcAft>
                <a:spcPts val="400"/>
              </a:spcAft>
              <a:defRPr sz="1800">
                <a:latin typeface="Calibri"/>
              </a:defRPr>
            </a:pPr>
            <a:r>
              <a:t>Access Control: login_required decorator</a:t>
            </a:r>
          </a:p>
          <a:p>
            <a:pPr>
              <a:spcAft>
                <a:spcPts val="400"/>
              </a:spcAft>
              <a:defRPr sz="1800">
                <a:latin typeface="Calibri"/>
              </a:defRPr>
            </a:pPr>
            <a:r>
              <a:t>Custom User Model (set before migrations):</a:t>
            </a:r>
          </a:p>
          <a:p>
            <a:pPr>
              <a:spcAft>
                <a:spcPts val="400"/>
              </a:spcAft>
              <a:defRPr sz="1800">
                <a:latin typeface="Calibri"/>
              </a:defRPr>
            </a:pPr>
            <a:r>
              <a:t>  AUTH_USER_MODEL = 'accounts.User'</a:t>
            </a:r>
          </a:p>
          <a:p>
            <a:pPr>
              <a:spcAft>
                <a:spcPts val="400"/>
              </a:spcAft>
              <a:defRPr sz="1800">
                <a:latin typeface="Calibri"/>
              </a:defRPr>
            </a:pPr>
            <a:r>
              <a:t>Exercise: Create signup/login system using built-in auth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4 – REST API with DRF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400"/>
              </a:spcAft>
              <a:defRPr sz="1800">
                <a:latin typeface="Calibri"/>
              </a:defRPr>
            </a:pPr>
            <a:r>
              <a:t>Django REST Framework (DRF) Basics</a:t>
            </a:r>
          </a:p>
          <a:p>
            <a:pPr>
              <a:spcAft>
                <a:spcPts val="400"/>
              </a:spcAft>
              <a:defRPr sz="1800">
                <a:latin typeface="Calibri"/>
              </a:defRPr>
            </a:pPr>
            <a:r>
              <a:t>Components: Serializers, ViewSets, Routers</a:t>
            </a:r>
          </a:p>
          <a:p>
            <a:pPr>
              <a:spcAft>
                <a:spcPts val="400"/>
              </a:spcAft>
              <a:defRPr sz="1800">
                <a:latin typeface="Calibri"/>
              </a:defRPr>
            </a:pPr>
            <a:r>
              <a:t>Example Serializer:</a:t>
            </a:r>
          </a:p>
          <a:p>
            <a:pPr>
              <a:spcAft>
                <a:spcPts val="400"/>
              </a:spcAft>
              <a:defRPr sz="1800">
                <a:latin typeface="Calibri"/>
              </a:defRPr>
            </a:pPr>
            <a:r>
              <a:t>  class PostSerializer(serializers.ModelSerializer):</a:t>
            </a:r>
          </a:p>
          <a:p>
            <a:pPr>
              <a:spcAft>
                <a:spcPts val="400"/>
              </a:spcAft>
              <a:defRPr sz="1800">
                <a:latin typeface="Calibri"/>
              </a:defRPr>
            </a:pPr>
            <a:r>
              <a:t>      class Meta:</a:t>
            </a:r>
          </a:p>
          <a:p>
            <a:pPr>
              <a:spcAft>
                <a:spcPts val="400"/>
              </a:spcAft>
              <a:defRPr sz="1800">
                <a:latin typeface="Calibri"/>
              </a:defRPr>
            </a:pPr>
            <a:r>
              <a:t>          model = Post</a:t>
            </a:r>
          </a:p>
          <a:p>
            <a:pPr>
              <a:spcAft>
                <a:spcPts val="400"/>
              </a:spcAft>
              <a:defRPr sz="1800">
                <a:latin typeface="Calibri"/>
              </a:defRPr>
            </a:pPr>
            <a:r>
              <a:t>          fields = '__all__'</a:t>
            </a:r>
          </a:p>
          <a:p>
            <a:pPr>
              <a:spcAft>
                <a:spcPts val="400"/>
              </a:spcAft>
              <a:defRPr sz="1800">
                <a:latin typeface="Calibri"/>
              </a:defRPr>
            </a:pPr>
            <a:r>
              <a:t>Exercise: Create API endpoints for Post CRUD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Essentials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400"/>
              </a:spcAft>
              <a:defRPr sz="1800">
                <a:latin typeface="Calibri"/>
              </a:defRPr>
            </a:pPr>
            <a:r>
              <a:t>Environment Variables: .env files for secrets</a:t>
            </a:r>
          </a:p>
          <a:p>
            <a:pPr>
              <a:spcAft>
                <a:spcPts val="400"/>
              </a:spcAft>
              <a:defRPr sz="1800">
                <a:latin typeface="Calibri"/>
              </a:defRPr>
            </a:pPr>
            <a:r>
              <a:t>DEBUG=False in production</a:t>
            </a:r>
          </a:p>
          <a:p>
            <a:pPr>
              <a:spcAft>
                <a:spcPts val="400"/>
              </a:spcAft>
              <a:defRPr sz="1800">
                <a:latin typeface="Calibri"/>
              </a:defRPr>
            </a:pPr>
            <a:r>
              <a:t>Collect static files: python manage.py collectstatic</a:t>
            </a:r>
          </a:p>
          <a:p>
            <a:pPr>
              <a:spcAft>
                <a:spcPts val="400"/>
              </a:spcAft>
              <a:defRPr sz="1800">
                <a:latin typeface="Calibri"/>
              </a:defRPr>
            </a:pPr>
            <a:r>
              <a:t>Deployment Options: Railway, Render, Docker, Gunicorn+Nginx</a:t>
            </a:r>
          </a:p>
          <a:p>
            <a:pPr>
              <a:spcAft>
                <a:spcPts val="400"/>
              </a:spcAft>
              <a:defRPr sz="1800">
                <a:latin typeface="Calibri"/>
              </a:defRPr>
            </a:pPr>
            <a:r>
              <a:t>Tip: Separate dev, staging, production environments</a:t>
            </a:r>
          </a:p>
          <a:p>
            <a:pPr>
              <a:spcAft>
                <a:spcPts val="400"/>
              </a:spcAft>
              <a:defRPr sz="1800">
                <a:latin typeface="Calibri"/>
              </a:defRPr>
            </a:pPr>
            <a:r>
              <a:t>Exercise: Deploy a sample project to a free platform (e.g., Railway)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Additional Django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400"/>
              </a:spcAft>
              <a:defRPr sz="1800">
                <a:latin typeface="Calibri"/>
              </a:defRPr>
            </a:pPr>
            <a:r>
              <a:t>Messages framework: messages.success(request, 'Saved!')</a:t>
            </a:r>
          </a:p>
          <a:p>
            <a:pPr>
              <a:spcAft>
                <a:spcPts val="400"/>
              </a:spcAft>
              <a:defRPr sz="1800">
                <a:latin typeface="Calibri"/>
              </a:defRPr>
            </a:pPr>
            <a:r>
              <a:t>Email sending: send_mail(subject, msg, from_email, [to])</a:t>
            </a:r>
          </a:p>
          <a:p>
            <a:pPr>
              <a:spcAft>
                <a:spcPts val="400"/>
              </a:spcAft>
              <a:defRPr sz="1800">
                <a:latin typeface="Calibri"/>
              </a:defRPr>
            </a:pPr>
            <a:r>
              <a:t>File uploads: request.FILES</a:t>
            </a:r>
          </a:p>
          <a:p>
            <a:pPr>
              <a:spcAft>
                <a:spcPts val="400"/>
              </a:spcAft>
              <a:defRPr sz="1800">
                <a:latin typeface="Calibri"/>
              </a:defRPr>
            </a:pPr>
            <a:r>
              <a:t>Caching: LocMemCache, Redis</a:t>
            </a:r>
          </a:p>
          <a:p>
            <a:pPr>
              <a:spcAft>
                <a:spcPts val="400"/>
              </a:spcAft>
              <a:defRPr sz="1800">
                <a:latin typeface="Calibri"/>
              </a:defRPr>
            </a:pPr>
            <a:r>
              <a:t>Exercise: Add messages and email notifications to Post CRUD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5 – Final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400"/>
              </a:spcAft>
              <a:defRPr sz="1800">
                <a:latin typeface="Calibri"/>
              </a:defRPr>
            </a:pPr>
            <a:r>
              <a:t>Project Ideas: Blog, To-Do app, Mini e-commerce, Notes with Auth</a:t>
            </a:r>
          </a:p>
          <a:p>
            <a:pPr>
              <a:spcAft>
                <a:spcPts val="400"/>
              </a:spcAft>
              <a:defRPr sz="1800">
                <a:latin typeface="Calibri"/>
              </a:defRPr>
            </a:pPr>
            <a:r>
              <a:t>Requirements: CRUD, Authentication, Styled templates, Admin customization, Optional API endpoint</a:t>
            </a:r>
          </a:p>
          <a:p>
            <a:pPr>
              <a:spcAft>
                <a:spcPts val="400"/>
              </a:spcAft>
              <a:defRPr sz="1800">
                <a:latin typeface="Calibri"/>
              </a:defRPr>
            </a:pPr>
            <a:r>
              <a:t>Deliverables: GitHub repo, Deployment link, README/Documentation</a:t>
            </a:r>
          </a:p>
          <a:p>
            <a:pPr>
              <a:spcAft>
                <a:spcPts val="400"/>
              </a:spcAft>
              <a:defRPr sz="1800">
                <a:latin typeface="Calibri"/>
              </a:defRPr>
            </a:pPr>
            <a:r>
              <a:t>Exercise: Complete mini-project using all concepts learned</a:t>
            </a:r>
          </a:p>
          <a:p>
            <a:pPr>
              <a:spcAft>
                <a:spcPts val="400"/>
              </a:spcAft>
              <a:defRPr sz="1800">
                <a:latin typeface="Calibri"/>
              </a:defRPr>
            </a:pPr>
            <a:r>
              <a:t>Engineering Best Practices: modular apps, code quality, version control, documentation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400"/>
              </a:spcAft>
              <a:defRPr sz="1800">
                <a:latin typeface="Calibri"/>
              </a:defRPr>
            </a:pPr>
            <a:r>
              <a:t>Understand Django MVT architecture &amp; project structure</a:t>
            </a:r>
          </a:p>
          <a:p>
            <a:pPr>
              <a:spcAft>
                <a:spcPts val="400"/>
              </a:spcAft>
              <a:defRPr sz="1800">
                <a:latin typeface="Calibri"/>
              </a:defRPr>
            </a:pPr>
            <a:r>
              <a:t>Master ORM, Templates, Forms, CBVs, Authentication</a:t>
            </a:r>
          </a:p>
          <a:p>
            <a:pPr>
              <a:spcAft>
                <a:spcPts val="400"/>
              </a:spcAft>
              <a:defRPr sz="1800">
                <a:latin typeface="Calibri"/>
              </a:defRPr>
            </a:pPr>
            <a:r>
              <a:t>Deploy apps securely</a:t>
            </a:r>
          </a:p>
          <a:p>
            <a:pPr>
              <a:spcAft>
                <a:spcPts val="400"/>
              </a:spcAft>
              <a:defRPr sz="1800">
                <a:latin typeface="Calibri"/>
              </a:defRPr>
            </a:pPr>
            <a:r>
              <a:t>Engineer for scalability, maintainability, modularity</a:t>
            </a:r>
          </a:p>
          <a:p>
            <a:pPr>
              <a:spcAft>
                <a:spcPts val="400"/>
              </a:spcAft>
              <a:defRPr sz="1800">
                <a:latin typeface="Calibri"/>
              </a:defRPr>
            </a:pPr>
            <a:r>
              <a:t>Hands-on coding and practice each concept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